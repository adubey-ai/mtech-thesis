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33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High-Performance Deep Learning Software Stack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for Scalable and Efficient LLMs</a:t>
            </a:r>
          </a:p>
          <a:p>
            <a:pPr>
              <a:defRPr sz="1800" i="1">
                <a:solidFill>
                  <a:srgbClr val="FFEEBB"/>
                </a:solidFill>
              </a:defRPr>
            </a:pPr>
            <a:r>
              <a:t>M.Tech Thesis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Adarsh Dubey  (SC24M151)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Advisor: Dr. S. Sumitra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Department of Mathematics, IIST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M.Tech in Machine Learning and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Thesis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One idea, five layers, measured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222222"/>
                </a:solidFill>
              </a:defRPr>
            </a:pPr>
            <a:r>
              <a:t>Co-design every layer of the LLM stack so that the gains compose — and verify the composition on real A100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55555"/>
                </a:solidFill>
              </a:defRPr>
            </a:pPr>
            <a:r>
              <a:t>What this thesis delivers, in numbers: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93.8%  peak GPU utilisation with DeepSpeed ZeRO-3</a:t>
            </a:r>
          </a:p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65.6%  attention blocks skipped by SWFA  (&lt;1e-4 FP32 error)</a:t>
            </a:r>
          </a:p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50–59%  end-to-end training speed-up on GPT-2-Medium</a:t>
            </a:r>
          </a:p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2.84×   decode throughput on LLaMA-7B (SGLang kernel stack)</a:t>
            </a:r>
          </a:p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25–29%  energy reduction per epoch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Platform: 8× A100-40GB · NVLink · PyTorch 2.0 · CUDA 12.x · NCCL 2.19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The scaling wall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Every new model generation hits memory, comms and attention at the same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t>7B model, Adam, mixed precision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•  params 2 B · grads 2 B · FP32 master 4 B ·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•  Adam m/v 4+4 B  →  14 B per parameter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•  ≈ 98 GB of state  ≫  40 GB on one A100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•  Activations at N=2048, B=4: +20 GB per layer</a:t>
            </a:r>
          </a:p>
          <a:p/>
          <a:p>
            <a:pPr>
              <a:defRPr sz="1500" b="1">
                <a:solidFill>
                  <a:srgbClr val="C0392B"/>
                </a:solidFill>
              </a:defRPr>
            </a:pPr>
            <a:r>
              <a:t>→  Single-GPU training is impossible; sharding is forced.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t>Four interacting challenges</a:t>
            </a:r>
          </a:p>
          <a:p>
            <a:pPr>
              <a:defRPr sz="1600" b="1">
                <a:solidFill>
                  <a:srgbClr val="222222"/>
                </a:solidFill>
              </a:defRPr>
            </a:pPr>
            <a:r>
              <a:t>•  Memory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  state &gt; single-GPU HBM</a:t>
            </a:r>
          </a:p>
          <a:p>
            <a:pPr>
              <a:defRPr sz="1600" b="1">
                <a:solidFill>
                  <a:srgbClr val="222222"/>
                </a:solidFill>
              </a:defRPr>
            </a:pPr>
            <a:r>
              <a:t>•  Comms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  all-reduce scales with model size, not batch</a:t>
            </a:r>
          </a:p>
          <a:p>
            <a:pPr>
              <a:defRPr sz="1600" b="1">
                <a:solidFill>
                  <a:srgbClr val="222222"/>
                </a:solidFill>
              </a:defRPr>
            </a:pPr>
            <a:r>
              <a:t>•  Hardware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  A100, H100, Xe, CDNA — different roofs</a:t>
            </a:r>
          </a:p>
          <a:p>
            <a:pPr>
              <a:defRPr sz="1600" b="1">
                <a:solidFill>
                  <a:srgbClr val="222222"/>
                </a:solidFill>
              </a:defRPr>
            </a:pPr>
            <a:r>
              <a:t>•  Attention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  Θ(N²) dominates long-context FLOPs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Optimising any one layer in isolation leaves the other four on the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Five research questions — one per layer of the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Research question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Answered in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/>
                        <a:t>RQ1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Which distributed-training strategy gives the best utilisation / energy / memory trade-off on a single 8-GPU node?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C1 (Ch.3)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/>
                        <a:t>RQ2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How do we map transformer GEMMs (skinny, batched, grouped) onto Tensor Cores better than vendor cuBLAS?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C2 (Ch.4)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/>
                        <a:t>RQ3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Can we exploit sliding-window sparsity before the GEMM, not as a post-hoc mask, while preserving numerical accuracy?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C3 (Ch.5)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/>
                        <a:t>RQ4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What cumulative decode-throughput gain is achievable from layered kernel optimisations inside SGLang?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C4 (Ch.6)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/>
                        <a:t>RQ5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Can a single profiling pipeline cross-validate CUTLASS, Triton and Inductor on the same kernels within &lt;3% error?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C5 (Ch.7)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Each RQ has one chapter, one artefact, and one headline number — traceable end-to-end.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Related work &amp;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Prior art is strong per layer — weak across layers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91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Representative prior work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Gap this thesis fills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 b="1"/>
                        <a:t>Distributed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ZeRO (Rajbhandari '20), FSDP (Zhao '23), Megatron-LM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controlled 4-way single-node study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 b="1"/>
                        <a:t>GEMM kernels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CUTLASS, CuTe, cuBLAS, Triton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LLM-shape mapping with epilogue fusion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 b="1"/>
                        <a:t>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Flash Attention 1/2 (Dao '22/'23), Longformer, BigBird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skip whole blocks, not just mask them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 b="1"/>
                        <a:t>Serving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vLLM (paged attention), SGLang, TGI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layered attribution of decode gains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 b="1"/>
                        <a:t>Profiling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Nsight Compute, NVTX, Triton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shape-indexed cache, cross-runtime check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1155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No prior work reports a controlled end-to-end study in which all five layers are tuned on the same hardware and composed.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Five contributions — one per research question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09600">
                <a:tc>
                  <a:txBody>
                    <a:bodyPr/>
                    <a:lstStyle/>
                    <a:p/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Contribution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Headline evidence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 b="1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Controlled 4-way distributed-training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ZeRO-3: 93.8% peak util, −22% energy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 b="1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CUTLASS/CuTe mapping for LLM GEMM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+35% on skinny &amp; grouped GEMMs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 b="1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Sliding Window Flash Attention (block-skip + w*)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65.6% blocks skipped, error &lt;1e-4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 b="1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SGLang kernel stack for long-context serving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2.84× decode on LLaMA-7B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 b="1"/>
                        <a:t>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Triton profiling &amp; auto-tune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&lt;3% vs CUTLASS, shape-indexed cache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Each contribution is independently useful — their composition is what is new.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Talk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How the next 33 slides are organised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222222"/>
                </a:solidFill>
              </a:defRPr>
            </a:pPr>
            <a:r>
              <a:t>Act II — Foundations  (8–9)</a:t>
            </a:r>
          </a:p>
          <a:p>
            <a:pPr>
              <a:spcAft>
                <a:spcPts val="1400"/>
              </a:spcAft>
              <a:defRPr sz="1400">
                <a:solidFill>
                  <a:srgbClr val="555555"/>
                </a:solidFill>
              </a:defRPr>
            </a:pPr>
            <a:r>
              <a:t>    stack picture · methodology</a:t>
            </a:r>
          </a:p>
          <a:p>
            <a:pPr>
              <a:spcAft>
                <a:spcPts val="200"/>
              </a:spcAft>
              <a:defRPr sz="1900" b="1">
                <a:solidFill>
                  <a:srgbClr val="222222"/>
                </a:solidFill>
              </a:defRPr>
            </a:pPr>
            <a:r>
              <a:t>C1 Distributed  (10–13)</a:t>
            </a:r>
          </a:p>
          <a:p>
            <a:pPr>
              <a:spcAft>
                <a:spcPts val="1400"/>
              </a:spcAft>
              <a:defRPr sz="1400">
                <a:solidFill>
                  <a:srgbClr val="555555"/>
                </a:solidFill>
              </a:defRPr>
            </a:pPr>
            <a:r>
              <a:t>    strategies · memory math · results</a:t>
            </a:r>
          </a:p>
          <a:p>
            <a:pPr>
              <a:spcAft>
                <a:spcPts val="200"/>
              </a:spcAft>
              <a:defRPr sz="1900" b="1">
                <a:solidFill>
                  <a:srgbClr val="222222"/>
                </a:solidFill>
              </a:defRPr>
            </a:pPr>
            <a:r>
              <a:t>C2 Kernels  (14–16)</a:t>
            </a:r>
          </a:p>
          <a:p>
            <a:pPr>
              <a:spcAft>
                <a:spcPts val="1400"/>
              </a:spcAft>
              <a:defRPr sz="1400">
                <a:solidFill>
                  <a:srgbClr val="555555"/>
                </a:solidFill>
              </a:defRPr>
            </a:pPr>
            <a:r>
              <a:t>    CUTLASS/CuTe · fusion · vs cuBLAS</a:t>
            </a:r>
          </a:p>
          <a:p>
            <a:pPr>
              <a:spcAft>
                <a:spcPts val="200"/>
              </a:spcAft>
              <a:defRPr sz="1900" b="1">
                <a:solidFill>
                  <a:srgbClr val="222222"/>
                </a:solidFill>
              </a:defRPr>
            </a:pPr>
            <a:r>
              <a:t>C3 SWFA  (17–27)</a:t>
            </a:r>
          </a:p>
          <a:p>
            <a:pPr>
              <a:spcAft>
                <a:spcPts val="1400"/>
              </a:spcAft>
              <a:defRPr sz="1400">
                <a:solidFill>
                  <a:srgbClr val="555555"/>
                </a:solidFill>
              </a:defRPr>
            </a:pPr>
            <a:r>
              <a:t>    classify · proofs · speed · w*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222222"/>
                </a:solidFill>
              </a:defRPr>
            </a:pPr>
            <a:r>
              <a:t>C4 Serving  (28–31)</a:t>
            </a:r>
          </a:p>
          <a:p>
            <a:pPr>
              <a:spcAft>
                <a:spcPts val="1400"/>
              </a:spcAft>
              <a:defRPr sz="1400">
                <a:solidFill>
                  <a:srgbClr val="555555"/>
                </a:solidFill>
              </a:defRPr>
            </a:pPr>
            <a:r>
              <a:t>    SGLang · layered 2.84× · tails</a:t>
            </a:r>
          </a:p>
          <a:p>
            <a:pPr>
              <a:spcAft>
                <a:spcPts val="200"/>
              </a:spcAft>
              <a:defRPr sz="1900" b="1">
                <a:solidFill>
                  <a:srgbClr val="222222"/>
                </a:solidFill>
              </a:defRPr>
            </a:pPr>
            <a:r>
              <a:t>C5 Profiling  (32–35)</a:t>
            </a:r>
          </a:p>
          <a:p>
            <a:pPr>
              <a:spcAft>
                <a:spcPts val="1400"/>
              </a:spcAft>
              <a:defRPr sz="1400">
                <a:solidFill>
                  <a:srgbClr val="555555"/>
                </a:solidFill>
              </a:defRPr>
            </a:pPr>
            <a:r>
              <a:t>    Triton · roofline · cross-check</a:t>
            </a:r>
          </a:p>
          <a:p>
            <a:pPr>
              <a:spcAft>
                <a:spcPts val="200"/>
              </a:spcAft>
              <a:defRPr sz="1900" b="1">
                <a:solidFill>
                  <a:srgbClr val="222222"/>
                </a:solidFill>
              </a:defRPr>
            </a:pPr>
            <a:r>
              <a:t>Act IV — Wrap  (36–40)</a:t>
            </a:r>
          </a:p>
          <a:p>
            <a:pPr>
              <a:spcAft>
                <a:spcPts val="1400"/>
              </a:spcAft>
              <a:defRPr sz="1400">
                <a:solidFill>
                  <a:srgbClr val="555555"/>
                </a:solidFill>
              </a:defRPr>
            </a:pPr>
            <a:r>
              <a:t>    composition · limits · future</a:t>
            </a:r>
          </a:p>
          <a:p>
            <a:pPr>
              <a:spcAft>
                <a:spcPts val="200"/>
              </a:spcAft>
              <a:defRPr sz="1900" b="1">
                <a:solidFill>
                  <a:srgbClr val="222222"/>
                </a:solidFill>
              </a:defRPr>
            </a:pPr>
            <a:r>
              <a:t>Questions &amp; discussion</a:t>
            </a:r>
          </a:p>
          <a:p>
            <a:pPr>
              <a:spcAft>
                <a:spcPts val="1400"/>
              </a:spcAft>
              <a:defRPr sz="1400">
                <a:solidFill>
                  <a:srgbClr val="555555"/>
                </a:solidFill>
              </a:defRPr>
            </a:pPr>
            <a:r>
              <a:t>    timing ≈ 45 min +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Foundations · 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The five-layer stack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Each layer consumes the layer below and produces an abstraction for the layer above.</a:t>
            </a:r>
          </a:p>
        </p:txBody>
      </p:sp>
      <p:pic>
        <p:nvPicPr>
          <p:cNvPr id="4" name="Picture 3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859536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Measurements flow back from profiling to every higher layer — dashed arrow in Ch.1.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Foundations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Unified experimental methodology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Same hardware, same seeds, same metrics across every chapter — so numbers compose.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t>Hardware</a:t>
            </a:r>
          </a:p>
          <a:p>
            <a:pPr>
              <a:spcAft>
                <a:spcPts val="1400"/>
              </a:spcAft>
              <a:defRPr sz="1400">
                <a:solidFill>
                  <a:srgbClr val="222222"/>
                </a:solidFill>
              </a:defRPr>
            </a:pPr>
            <a:r>
              <a:t>8× A100-40GB, NVLink, single node,</a:t>
            </a:r>
            <a:br/>
            <a:r>
              <a:t>CUDA 12.x, NCCL 2.19</a:t>
            </a:r>
          </a:p>
          <a:p>
            <a:pPr>
              <a:defRPr sz="1800" b="1">
                <a:solidFill>
                  <a:srgbClr val="C0392B"/>
                </a:solidFill>
              </a:defRPr>
            </a:pPr>
            <a:r>
              <a:t>Workloads</a:t>
            </a:r>
          </a:p>
          <a:p>
            <a:pPr>
              <a:spcAft>
                <a:spcPts val="1400"/>
              </a:spcAft>
              <a:defRPr sz="1400">
                <a:solidFill>
                  <a:srgbClr val="222222"/>
                </a:solidFill>
              </a:defRPr>
            </a:pPr>
            <a:r>
              <a:t>ResNet-50/CIFAR-10 (controlled proxy)</a:t>
            </a:r>
            <a:br/>
            <a:r>
              <a:t>GPT-2-Medium (355M) for LLM training</a:t>
            </a:r>
            <a:br/>
            <a:r>
              <a:t>LLaMA-7B for serving</a:t>
            </a:r>
          </a:p>
          <a:p>
            <a:pPr>
              <a:defRPr sz="1800" b="1">
                <a:solidFill>
                  <a:srgbClr val="C0392B"/>
                </a:solidFill>
              </a:defRPr>
            </a:pPr>
            <a:r>
              <a:t>Controls</a:t>
            </a:r>
          </a:p>
          <a:p>
            <a:pPr>
              <a:spcAft>
                <a:spcPts val="1400"/>
              </a:spcAft>
              <a:defRPr sz="1400">
                <a:solidFill>
                  <a:srgbClr val="222222"/>
                </a:solidFill>
              </a:defRPr>
            </a:pPr>
            <a:r>
              <a:t>identical seeds · identical init ·</a:t>
            </a:r>
            <a:br/>
            <a:r>
              <a:t>identical NCCL topology · Nsight archives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t>Metrics (every chapter reports these)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GPU utilisation (avg / peak)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Per-GPU memory (model · grad · opt · act)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Training-loss convergence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Power and energy per epoch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Compute/communication overlap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Throughput scaling &amp; p50/p90/p99 latency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Roofline placement (FLOP/byte vs TFLOPS)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Every claim in the next 26 slides comes from this single shared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1 · Distributed training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Why we need a controlled 4-way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7B-parameter Adam training needs ≈98 GB of state — sharding is mandatory.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DP / DDP / FSDP / ZeRO-3 have been compared by their own authors, each on different workloads and hardware.</a:t>
            </a:r>
          </a:p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No open report isolates the effect of the strategy itself with identical seeds, identical init, identical workload, same node.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Without this control, framework overheads masquerade as algorithmic differences.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55555"/>
                </a:solidFill>
              </a:defRPr>
            </a:pPr>
            <a:r>
              <a:t>Research question RQ1:</a:t>
            </a:r>
          </a:p>
          <a:p>
            <a:pPr>
              <a:defRPr sz="1800" b="1">
                <a:solidFill>
                  <a:srgbClr val="C0392B"/>
                </a:solidFill>
              </a:defRPr>
            </a:pPr>
            <a:r>
              <a:t>Which strategy maximises GPU utilisation and minimises energy per epoch at the same final loss, on a fixed 8-GPU workload?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1 · Distributed training —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Strategies and the memory they imply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20624">
                <a:tc>
                  <a:txBody>
                    <a:bodyPr/>
                    <a:lstStyle/>
                    <a:p/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Grads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Optimiser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Comms pattern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replicated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replicated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replicated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scatter / gather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/>
                        <a:t>DDP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replicated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ring-reduced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replicated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all-reduce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/>
                        <a:t>FSDP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sharded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sharded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sharded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gather → compute → shard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/>
                        <a:t>ZeRO-3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sharded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sharded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sharded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fine-grained overlap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eqb_88144264169003054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0"/>
            <a:ext cx="10424160" cy="258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Adam on P=8 ⇒ 87.5% state-memory saving — theory we will now match to measurement.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1 · Distributed training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Utilisation &amp; memory on 8× A100</a:t>
            </a:r>
          </a:p>
        </p:txBody>
      </p:sp>
      <p:pic>
        <p:nvPicPr>
          <p:cNvPr id="4" name="Picture 3" descr="uti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040880" cy="40233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55448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Mem / GPU (GB)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Reduction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/>
                        <a:t>DDP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/>
                        <a:t>FSDP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8.0×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/>
                        <a:t>ZeRO-3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8.0×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402336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ZeRO-3 peaks at 93.8% via fine-grained overlap of param-gather with compute.</a:t>
            </a:r>
          </a:p>
          <a:p>
            <a:pPr>
              <a:defRPr sz="1300" b="1">
                <a:solidFill>
                  <a:srgbClr val="C0392B"/>
                </a:solidFill>
              </a:defRPr>
            </a:pPr>
            <a:r>
              <a:t>Sharding delivers the theoretical ≈87.5% state-memory saving.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Result matches the memory theory on slide 11 — no framework surprise.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12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1 · Distributed training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Energy, overlap and what we ship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188720"/>
          <a:ext cx="10058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Avg (W)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kWh/ep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Comms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Overlap (%)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/>
                        <a:t>DDP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64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/>
                        <a:t>FSDP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58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/>
                        <a:t>DeepSpeed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0392B"/>
                </a:solidFill>
              </a:defRPr>
            </a:pPr>
            <a:r>
              <a:t>•  ZeRO-3: 22% lower per-epoch energy than DP at the same final loss.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DDP overlaps best: ring all-reduce runs during backward of earlier layers.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ZeRO-3 param-gather blocks compute slightly; overlap_comm hides most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Answer to RQ1: ZeRO-3 wins on util + energy; FSDP is the best memory/throughput middle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2 · Kernels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cuBLAS is great — except on the shapes LLMs actually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Square GEMMs (4096³, 8192³) are well-served by cuBLAS.</a:t>
            </a:r>
          </a:p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Transformer bottlenecks are skinny (QKV, attention output) and grouped (MoE experts) — cuBLAS leaves 30–40% on the table.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Epilogues (bias, GELU, residual-add) force extra HBM round-trips if not fused into the GEMM.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Vendor libraries cannot be re-tuned per model architecture without rebuilding from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55555"/>
                </a:solidFill>
              </a:defRPr>
            </a:pPr>
            <a:r>
              <a:t>Research question RQ2:</a:t>
            </a:r>
          </a:p>
          <a:p>
            <a:pPr>
              <a:defRPr sz="1800" b="1">
                <a:solidFill>
                  <a:srgbClr val="C0392B"/>
                </a:solidFill>
              </a:defRPr>
            </a:pPr>
            <a:r>
              <a:t>Can we map LLM GEMM shapes onto CUTLASS/CuTe and beat cuBLAS on transformer-typical shapes?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2 · Kernels —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Tile hierarchy, layout algebra, epilogue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Threadblock tile (Mtb, Ntb, Ktb) — unit of HBM traffic.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Warp tile (Mw, Nw, Kw) — unit of shared-memory traffic.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Instruction tile (Mi, Ni, Ki) — Tensor-Core MMA shape (e.g. 16×8×16).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Multi-stage pipelining: prefetch tile k+1 while MMAs on tile k execute.</a:t>
            </a:r>
          </a:p>
        </p:txBody>
      </p:sp>
      <p:pic>
        <p:nvPicPr>
          <p:cNvPr id="5" name="Picture 4" descr="eqb_8193780529415889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31920"/>
            <a:ext cx="10972800" cy="1417301"/>
          </a:xfrm>
          <a:prstGeom prst="rect">
            <a:avLst/>
          </a:prstGeom>
        </p:spPr>
      </p:pic>
      <p:pic>
        <p:nvPicPr>
          <p:cNvPr id="6" name="Picture 5" descr="eqb_19112168240254927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0"/>
            <a:ext cx="10972800" cy="12629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Fusion eliminates two HBM round-trips per MLP layer — pure memory savings.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15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2 · Kernels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CUTLASS vs cuBLAS (FP16 on A100, TFLOPS)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188720"/>
          <a:ext cx="9784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  <a:gridCol w="2446020"/>
                <a:gridCol w="24460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Shape (M × N × K)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cuBLAS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CUTLASS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Ratio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4096³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1.08×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8192³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1.04×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2048 × 2048 × 128  (skinny)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1.35×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Grouped MoE, 16 experts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1.31×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•  On large compute-bound shapes, both reach &gt;90% Tensor-Core utilisation → tie.</a:t>
            </a:r>
          </a:p>
          <a:p>
            <a:pPr>
              <a:spcAft>
                <a:spcPts val="400"/>
              </a:spcAft>
              <a:defRPr sz="1500">
                <a:solidFill>
                  <a:srgbClr val="C0392B"/>
                </a:solidFill>
              </a:defRPr>
            </a:pPr>
            <a:r>
              <a:t>•  On skinny and grouped GEMMs — the LLM-dominant shapes — CUTLASS wins by up to 35%.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•  Speed-up comes from warp tile 64×32×32 matching the register budget exactly.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Answer to RQ2: LLM-aware tile + layout choices beat a one-size-fits-all cuBLAS on the shapes that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Sliding-window attention is everywhere — but implementations waste it</a:t>
            </a:r>
          </a:p>
        </p:txBody>
      </p:sp>
      <p:pic>
        <p:nvPicPr>
          <p:cNvPr id="4" name="Picture 3" descr="eqb_7288201208090326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972800" cy="14446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7432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Flash Attention removes the memory wall — but still issues dense GEMMs on every Br×Bc tile.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Longformer, BigBird, Mistral-7B all restrict attention to a local window [i−wl, i+wr].</a:t>
            </a:r>
          </a:p>
          <a:p>
            <a:pPr>
              <a:spcAft>
                <a:spcPts val="400"/>
              </a:spcAft>
              <a:defRPr sz="1600">
                <a:solidFill>
                  <a:srgbClr val="C0392B"/>
                </a:solidFill>
              </a:defRPr>
            </a:pPr>
            <a:r>
              <a:t>•  In theory: cost drops from Θ(N²) to Θ(N·w) — only if the kernel is window-aware.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Most implementations realise the window as a post-hoc score-matrix mask → zero FLOP savings.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55555"/>
                </a:solidFill>
              </a:defRPr>
            </a:pPr>
            <a:r>
              <a:t>Research question RQ3:</a:t>
            </a:r>
          </a:p>
          <a:p>
            <a:pPr>
              <a:defRPr sz="1700" b="1">
                <a:solidFill>
                  <a:srgbClr val="C0392B"/>
                </a:solidFill>
              </a:defRPr>
            </a:pPr>
            <a:r>
              <a:t>Can we skip whole attention blocks (not just mask them) without changing the output?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Enabling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Flash Attention is a block-by-block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For each row tile i, carry the state (m_i, ℓ_i, O_i) — row-max, row-sum, accumulator:</a:t>
            </a:r>
          </a:p>
        </p:txBody>
      </p:sp>
      <p:pic>
        <p:nvPicPr>
          <p:cNvPr id="5" name="Picture 4" descr="eqb_24282127260291919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0058400" cy="25599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548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0392B"/>
                </a:solidFill>
              </a:defRPr>
            </a:pPr>
            <a:r>
              <a:t>•  Peak HBM residency drops from Θ(N²) to Θ(Br·Bc); answer identical up to FP associativity.</a:t>
            </a:r>
          </a:p>
          <a:p>
            <a:pPr>
              <a:spcAft>
                <a:spcPts val="400"/>
              </a:spcAft>
              <a:defRPr sz="1500">
                <a:solidFill>
                  <a:srgbClr val="C0392B"/>
                </a:solidFill>
              </a:defRPr>
            </a:pPr>
            <a:r>
              <a:t>•  Key observation: the state update (m, ℓ, O) is invariant to skipping blocks whose contribution is provably zero.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•  This is the hook SWFA uses — skip blocks that lie outside the window, keep the rest untouched.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Approach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Classify blocks once: inside / intersect / outside</a:t>
            </a:r>
          </a:p>
        </p:txBody>
      </p:sp>
      <p:pic>
        <p:nvPicPr>
          <p:cNvPr id="4" name="Picture 3" descr="class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88720"/>
            <a:ext cx="5569364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Only I and X blocks are computed; O blocks are skipped entirely — never become GEMMs.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Approach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Classification by corner checks — O((N/B)²), negligible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Input:  N, window (wl, wr), block sizes (Br, Bc)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Output: sets I (inside), X (intersect), O (outside)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Tr ← ⌈N/Br⌉;   Tc ← ⌈N/Bc⌉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for r = 0 .. Tr−1: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r0 ← r·Br;   r1 ← min((r+1)·Br, N) − 1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for c = 0 .. Tc−1: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    c0 ← c·Bc;   c1 ← min((c+1)·Bc, N) − 1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    outside ← (c1 &lt; r0 − wl)  or  (c0 &gt; r1 + wr)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    inside  ← (c1 ≤ r0 + wr) and (c0 ≥ r1 − wl)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    if outside:   O ← O ∪ {(r,c)}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    elif inside:  I ← I ∪ {(r,c)}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    else:         X ← X ∪ {(r,c)}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return (I, X, 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Only two corners per block need checking (lemma on next slide).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Approach (3/4),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Corner-check lemma — 4 comparisons are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Let B = [r0, r1] × [c0, c1] and W = {(i,j): i − wl ≤ j ≤ i + wr}. Then:</a:t>
            </a:r>
          </a:p>
        </p:txBody>
      </p:sp>
      <p:pic>
        <p:nvPicPr>
          <p:cNvPr id="5" name="Picture 4" descr="eqb_6799235266327710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10332720" cy="19582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931920"/>
            <a:ext cx="10972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Proof sketch.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Window boundaries j = i ± wr, j = i − wl are monotone in i, so min (j − i) over B is attained at (r1, c0) and max at (r0, c1). Outside/inside reduce to inequalities on these two corners. 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Classification cost: 4 comparisons per block — negligible next to the skipped GEMMs.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21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Approach (4/4), mask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Vectorised mask for X-blocks — one triu/tril, no Python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For block (r, c) with offset δ_rc = c·Bc − r·Br, local offset rel = j_ℓ − i_ℓ is masked iff:</a:t>
            </a:r>
          </a:p>
        </p:txBody>
      </p:sp>
      <p:pic>
        <p:nvPicPr>
          <p:cNvPr id="5" name="Picture 4" descr="eqb_2551984959145100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0515600" cy="2605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•  Replaces a nested O(Br·Bc) loop with one triu and one tril.</a:t>
            </a:r>
          </a:p>
          <a:p>
            <a:pPr>
              <a:spcAft>
                <a:spcPts val="400"/>
              </a:spcAft>
              <a:defRPr sz="1500">
                <a:solidFill>
                  <a:srgbClr val="C0392B"/>
                </a:solidFill>
              </a:defRPr>
            </a:pPr>
            <a:r>
              <a:t>•  ≈100× faster than naive block-level masking at Br = Bc = 64.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Forward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SWFA forward pass — the skip is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Input: Q ∈ R^{B×H×N×d}, K, V ∈ R^{B×H×N×dv},   (wl, wr),   (Br, Bc)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(I, X, O) ← ClassifyBlocks()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for r = 0 .. Tr − 1: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O_r ← 0;   m_r ← −∞;   ℓ_r ← 0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for c = 0 .. Tc − 1:</a:t>
            </a:r>
          </a:p>
          <a:p>
            <a:pPr>
              <a:defRPr sz="1300" b="1">
                <a:solidFill>
                  <a:srgbClr val="C0392B"/>
                </a:solidFill>
                <a:latin typeface="Consolas"/>
              </a:defRPr>
            </a:pPr>
            <a:r>
              <a:t>        if (r,c) ∈ O: continue                      ← SKIP BLOCK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    S_rc ← Q_r · K_c^T / √d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    if (r,c) ∈ X:  S_rc += GenerateMask(r,c)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    m_new ← max(m_r, max(S_rc));   corr ← exp(m_r − m_new)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    P_rc ← exp(S_rc − m_new)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    ℓ_r ← corr·ℓ_r + Σ P_rc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    O_r ← corr·O_r + P_rc · V_c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    m_r ← m_new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    O_r ← O_r / (ℓ_r + ε)</a:t>
            </a:r>
          </a:p>
          <a:p>
            <a:pPr>
              <a:defRPr sz="1300">
                <a:solidFill>
                  <a:srgbClr val="222222"/>
                </a:solidFill>
                <a:latin typeface="Consolas"/>
              </a:defRPr>
            </a:pPr>
            <a:r>
              <a:t>return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Backward &amp;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Backward re-runs the same block set — same O, X; no new kernels</a:t>
            </a:r>
          </a:p>
        </p:txBody>
      </p:sp>
      <p:pic>
        <p:nvPicPr>
          <p:cNvPr id="4" name="Picture 3" descr="eqb_6262963505638262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058400" cy="19062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926080"/>
          <a:ext cx="9418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Expression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Total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(N/B)²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Inside band (I ∪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≈ 2·(N/B)·(w/B)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Skipped (O)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(N/B)² − 2·(N/B)·(w/B)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Theoretical speed-up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1 − 2w/N  (as w ≪ N)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Θ(N) — same as Flash Attention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Example: N=128, w=4, B=16 ⇒ 48 of 64 blocks skipped (75%). Prediction is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Evidence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Accuracy (19 configs pass) and skip efficiency (matches theory)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Max diff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Tol.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sym narrow w=2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2.4e-7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1e-4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sym wide w=8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2.4e-7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1e-4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causal+win wl=6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4.8e-7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1e-4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multi-head H=8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8.3e-7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1e-4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long seq N=128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7.5e-7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1e-4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200" b="1"/>
                        <a:t>FP16 w=4,6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1.95e-3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1e-2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All 19 configurations pass within tolerance.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Blocks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Skip %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very narrow w=1,2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65.6%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sym narrow w=2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37.5%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causal+win w=6,0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56.2%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left only w=10,0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56.2%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N=Ns=45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22.2%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200" b="1"/>
                        <a:t>win&gt;seq w=20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Skip rate matches the 1 − 2w/N prediction from slide 24.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25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Evidence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End-to-end training + long-sequence scaling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Tok/s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kWh/ep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DDP vanilla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2.8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DDP + SWFA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FSDP vanilla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11,890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2.9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FSDP + SWFA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17,340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DeepSpeed vanilla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2.7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200" b="1"/>
                        <a:t>DeepSpeed + SWFA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72009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50–59% throughput, 25–29% energy, perplexity shift &lt; 0.1 — composes cleanly with every distributed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3 · SWFA — Theory, optimal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Closed-form w* under exponential attention decay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Compute / memory / performance-loss cost:</a:t>
            </a:r>
          </a:p>
        </p:txBody>
      </p:sp>
      <p:pic>
        <p:nvPicPr>
          <p:cNvPr id="5" name="Picture 4" descr="eqb_8566021635011951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0332720" cy="2560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Theorem.  L(w) is strictly convex on w &gt; 0.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Proof: C'' = M'' = 0; P'' ∝ (λ²/4)·e^{−λw/2} &gt; 0 ⇒ L'' &gt; 0. ∎</a:t>
            </a:r>
          </a:p>
          <a:p>
            <a:pPr>
              <a:defRPr sz="1500" b="1">
                <a:solidFill>
                  <a:srgbClr val="C0392B"/>
                </a:solidFill>
              </a:defRPr>
            </a:pPr>
            <a:r>
              <a:t>Optimum:  w* = (2/λ) · ln[ γ·A₀·λ / ( α·κ·d·(1 − e^{-λ}) 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w* is a drop-in warm-start for per-layer adaptive windows (future 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27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4 · Serving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Serving is a different regime from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0392B"/>
                </a:solidFill>
              </a:defRPr>
            </a:pPr>
            <a:r>
              <a:t>Prefill — compute-bound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Dense QKᵀ and PV on the whole prompt.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SWFA cuts attention FLOPs by ~37% at w=4096 on 8K prompts.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Direct wall-clock win.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0392B"/>
                </a:solidFill>
              </a:defRPr>
            </a:pPr>
            <a:r>
              <a:t>Decode — memory-bound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Arithmetic intensity ≈ 1 FLOP/byte.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KV-cache reads dominate; FLOPs don't.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Throughput ceiling = HBM bandwidth, not TFLOPS.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55555"/>
                </a:solidFill>
              </a:defRPr>
            </a:pPr>
            <a:r>
              <a:t>Research question RQ4:</a:t>
            </a:r>
          </a:p>
          <a:p>
            <a:pPr>
              <a:defRPr sz="1800" b="1">
                <a:solidFill>
                  <a:srgbClr val="C0392B"/>
                </a:solidFill>
              </a:defRPr>
            </a:pPr>
            <a:r>
              <a:t>What cumulative decode speed-up is achievable from layered kernel optimisations, attributing each 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Kernel design must follow the bottleneck, not the algorithm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28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4 · Serving —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SGLang kernel stack: paged KV + fused decode + SWFA prefill + fused sampling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822960"/>
          </a:xfrm>
          <a:prstGeom prst="roundRect">
            <a:avLst/>
          </a:prstGeom>
          <a:solidFill>
            <a:srgbClr val="CBE4FB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Prefill  (SWFA)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291840" cy="822960"/>
          </a:xfrm>
          <a:prstGeom prst="roundRect">
            <a:avLst/>
          </a:prstGeom>
          <a:solidFill>
            <a:srgbClr val="D6F2D0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Fused Decode Attn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645920"/>
            <a:ext cx="3291840" cy="822960"/>
          </a:xfrm>
          <a:prstGeom prst="roundRect">
            <a:avLst/>
          </a:prstGeom>
          <a:solidFill>
            <a:srgbClr val="FFF2B3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Fused Sampling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926080"/>
            <a:ext cx="3291840" cy="822960"/>
          </a:xfrm>
          <a:prstGeom prst="roundRect">
            <a:avLst/>
          </a:prstGeom>
          <a:solidFill>
            <a:srgbClr val="E0E0E0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Paged KV Cache  (16-tok pages)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 Paged KV: 16-tok pages eliminate fragmentation; radix-tree sharing for common prefixes.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 Fused decode: matmul + softmax + masking in one kernel, hides KV indirection behind compute.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 SWFA prefill: drop-in for window models; reuses Contribution 3 directly.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 Fused top-k/top-p: removes 3–4 kernel launches per decode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29 /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4 · Serving — Evidence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Layered decode-throughput gain on LLaMA-7B — 2.84× cumulative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Tok/s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Speed-up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/>
                        <a:t>Baseline (vanilla attn, unpaged KV)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1.00×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/>
                        <a:t>+ Paged KV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1.45×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/>
                        <a:t>+ Fused decode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1.90×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/>
                        <a:t>+ SWFA prefill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2.46×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/>
                        <a:t>+ Fused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2.84×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Per-layer wedge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 Paged KV  (+45%):</a:t>
            </a:r>
            <a:br/>
            <a:r>
              <a:t>  no fragmentation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 Fused decode  (+31%):</a:t>
            </a:r>
            <a:br/>
            <a:r>
              <a:t>  matches HBM roofline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 SWFA prefill  (+30%):</a:t>
            </a:r>
            <a:br/>
            <a:r>
              <a:t>  declared window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 Fused sampling  (+15%):</a:t>
            </a:r>
            <a:br/>
            <a:r>
              <a:t>  fewer launches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Order matters — each optimisation exposes the next bottleneck.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4 · Serving — Evidence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Tail latency and KV footprint — concurrency improves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Batch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p50 (ms)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p90 (ms)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p99 (ms)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Tok/s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55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414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796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1,467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2,724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0392B"/>
                </a:solidFill>
              </a:defRPr>
            </a:pPr>
            <a:r>
              <a:t>•  p99 &lt; 30 ms even at batch 64 — well below the 100 ms SLO.</a:t>
            </a:r>
          </a:p>
          <a:p>
            <a:pPr>
              <a:spcAft>
                <a:spcPts val="400"/>
              </a:spcAft>
              <a:defRPr sz="1600">
                <a:solidFill>
                  <a:srgbClr val="C0392B"/>
                </a:solidFill>
              </a:defRPr>
            </a:pPr>
            <a:r>
              <a:t>•  KV footprint at L=8192, batch 64: 34 GB → 19 GB (44% saving) via paged + radix-tree sharing.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Enables 1.7× more concurrent requests per GPU.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Answer to RQ4: the 2.84× is real under realistic batch/tail-latency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5 · Profiling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Kernel tuning drifts with every new shape and every new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Hand-tuned tile sizes in Chapters 4–6 are valid only for the shapes they were tuned on.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H100, Blackwell, Xe change the Tensor-Core shape and the register budget.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A single throughput number from CUTLASS tells us nothing about whether Triton can keep up — we need a cross-runtime check.</a:t>
            </a:r>
          </a:p>
          <a:p>
            <a:pPr>
              <a:spcAft>
                <a:spcPts val="400"/>
              </a:spcAft>
              <a:defRPr sz="1700">
                <a:solidFill>
                  <a:srgbClr val="C0392B"/>
                </a:solidFill>
              </a:defRPr>
            </a:pPr>
            <a:r>
              <a:t>•  Every speed-up claim in this thesis must be reproducible by an independent runtime within &lt;3%.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55555"/>
                </a:solidFill>
              </a:defRPr>
            </a:pPr>
            <a:r>
              <a:t>Research question RQ5:</a:t>
            </a:r>
          </a:p>
          <a:p>
            <a:pPr>
              <a:defRPr sz="1700" b="1">
                <a:solidFill>
                  <a:srgbClr val="C0392B"/>
                </a:solidFill>
              </a:defRPr>
            </a:pPr>
            <a:r>
              <a:t>Can one pipeline cross-validate CUTLASS, Triton and Inductor and cache good configs per shape?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5 · Profiling —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Triton auto-tune + roofline + shape-indexed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Programmer writes block-level Python; compiler emits PTX with Tensor-Core MMAs.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@triton.autotune(configs=[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triton.Config({'BLOCK_M':128,'BLOCK_N':128,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               'BLOCK_K':32}, num_warps=8, num_stages=3),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triton.Config({'BLOCK_M':128,'BLOCK_N':64,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               'BLOCK_K':32}, num_warps=4, num_stages=2),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], key=['M','N','K'])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@triton.jit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def gemm_kernel(A, B, C, M, N, K, ...):</a:t>
            </a:r>
          </a:p>
          <a:p>
            <a:pPr>
              <a:defRPr sz="1400">
                <a:solidFill>
                  <a:srgbClr val="222222"/>
                </a:solidFill>
                <a:latin typeface="Consolas"/>
              </a:defRPr>
            </a:pPr>
            <a:r>
              <a:t>    # block-pointer arithmetic + MMA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 Auto-tuner picks the winner per shape class; second call hits the cache → free.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 Every kernel from C2/C3/C4 is rerun here and placed on the A100 roofline (next slide).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5 · Profiling — Evidence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Roofline placement — every kernel sits where the model predicts</a:t>
            </a:r>
          </a:p>
        </p:txBody>
      </p:sp>
      <p:pic>
        <p:nvPicPr>
          <p:cNvPr id="4" name="Picture 3" descr="roo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688086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120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GEMM and SWFA sit on the compute ceiling (312 TFLOPS); decode attention sits on the memory ridge at ~1 FLOP/byte.</a:t>
            </a:r>
          </a:p>
          <a:p>
            <a:pPr>
              <a:defRPr sz="1500" b="1">
                <a:solidFill>
                  <a:srgbClr val="C0392B"/>
                </a:solidFill>
              </a:defRPr>
            </a:pPr>
            <a:r>
              <a:t>Two kernels, two ceilings, two optimisation strategies — visible in one chart.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Contribution 5 · Profiling — Evidence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Triton vs CUTLASS vs Torch-inductor — agreement within 3%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Kernel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Triton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CUTLASS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Inductor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GEMM 4096³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288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Flash Attention (N=2K, h=128)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SWFA (N=2K, w=512)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Decode attention (KV=8K)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•  &lt;3% throughput agreement; &lt;1e-4 FP32, &lt;1e-3 FP16 numerical difference.</a:t>
            </a:r>
          </a:p>
          <a:p>
            <a:pPr>
              <a:spcAft>
                <a:spcPts val="400"/>
              </a:spcAft>
              <a:defRPr sz="1500">
                <a:solidFill>
                  <a:srgbClr val="C0392B"/>
                </a:solidFill>
              </a:defRPr>
            </a:pPr>
            <a:r>
              <a:t>•  Triton closes to within 7% of hand-tuned CUTLASS on SWFA — great for iteration.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•  Torch-inductor cannot express sliding window — hence the missing entry.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Answer to RQ5: the pipeline independently reproduces every headline number in this 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Integration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How the five contributions compose end-to-end</a:t>
            </a:r>
          </a:p>
        </p:txBody>
      </p:sp>
      <p:pic>
        <p:nvPicPr>
          <p:cNvPr id="4" name="Picture 3" descr="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9789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72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 C1 sets the memory envelope → C2 kernels fit inside it → C3 skips the attention work → C4 ships the savings as tokens/s → C5 verifies the lot.</a:t>
            </a:r>
          </a:p>
          <a:p>
            <a:pPr>
              <a:spcAft>
                <a:spcPts val="400"/>
              </a:spcAft>
              <a:defRPr sz="1400">
                <a:solidFill>
                  <a:srgbClr val="C0392B"/>
                </a:solidFill>
              </a:defRPr>
            </a:pPr>
            <a:r>
              <a:t>•  Removing any one link drops the composed gain below the sum of its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Five lessons — one per contribution, one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Compose, then tune — cross-layer co-design compounds; single-layer wins plateau quickly.</a:t>
            </a:r>
          </a:p>
          <a:p>
            <a:pPr>
              <a:spcAft>
                <a:spcPts val="400"/>
              </a:spcAft>
              <a:defRPr sz="1800">
                <a:solidFill>
                  <a:srgbClr val="C0392B"/>
                </a:solidFill>
              </a:defRPr>
            </a:pPr>
            <a:r>
              <a:t>•  Skip beats mask — block-sparsity belongs in kernel control flow, not in the score matrix.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Overlap is a first-class metric — a 65% overlap run can beat a 90% util run that stalls on comms.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Auto-tune everything — the same kernel needs different tile shapes at different sequence lengths.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Roofline is the design tool — every optimisation should move a dot toward its ceiling.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Limitations — honest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What this thesis does 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Single node: 8-GPU NVLink only; no multi-node cross-switch or InfiniBand topology.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Model size: GPT-2-Medium (355M) for training; 7B only for serving. No 70B / 175B.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Precision: FP16 / FP32 only; no sub-8-bit quantisation study.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SWFA: reference PyTorch + Triton cross-validator; CUTLASS kernel sketched, not shipped.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Workload breadth: dense transformers only — no MoE end-to-end, no RLHF.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▸ Scope is deliberate — each limitation maps to a well-defined future-work item (next slide).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Where this stack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Multi-node SWFA with topology-aware window partitioning over InfiniBand.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CUTLASS SWFA kernel with CuTe layouts and epilogue fusion; target &gt; 95% Tensor-Core util.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Adaptive window: learn w* online per layer/head, using the closed-form as a warm start.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Adaptive KV page size in SGLang — balance arithmetic intensity against fragmentation.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Sub-8-bit paths (FP8, INT4) with accuracy bounds derived from the online-softmax FP model.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MoE end-to-end: fold grouped-GEMM epilogue fusion into the SGLang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</a:defRPr>
            </a:pPr>
            <a:r>
              <a:t>Summary ·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Summary of contributions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18160">
                <a:tc>
                  <a:txBody>
                    <a:bodyPr/>
                    <a:lstStyle/>
                    <a:p/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Contribution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Headline</a:t>
                      </a:r>
                    </a:p>
                  </a:txBody>
                  <a:tcPr>
                    <a:solidFill>
                      <a:srgbClr val="334F7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Controlled 4-way distributed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93.8% util · −22% energy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CUTLASS/CuTe GEMM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+35% skinny/MoE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SWFA (block skip, corner-check, w*)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65.6% skip · &lt;1e-4 err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SGLang kernel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2.84× decode on LLaMA-7B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/>
                        <a:t>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Triton profiling &amp; auto-tune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&lt;3% cross-runtime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4572000"/>
            <a:ext cx="12191695" cy="1645920"/>
          </a:xfrm>
          <a:prstGeom prst="rect">
            <a:avLst/>
          </a:prstGeom>
          <a:solidFill>
            <a:srgbClr val="33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1247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 — Questions?</a:t>
            </a:r>
          </a:p>
          <a:p>
            <a:pPr algn="ctr">
              <a:defRPr sz="1400" i="1">
                <a:solidFill>
                  <a:srgbClr val="FFEEBB"/>
                </a:solidFill>
              </a:defRPr>
            </a:pPr>
            <a:r>
              <a:t>Adarsh Dubey (SC24M151) · IIST · Advisor: Dr. S. Sumitra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40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Adarsh Dubey — M.Tech Thesis Defense (IIST)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