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33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High-Performance Deep Learning Software Stack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for Scalable and Efficient LLMs</a:t>
            </a:r>
          </a:p>
          <a:p>
            <a:pPr>
              <a:defRPr sz="1800" i="1">
                <a:solidFill>
                  <a:srgbClr val="FFEEBB"/>
                </a:solidFill>
              </a:defRPr>
            </a:pPr>
            <a:r>
              <a:t>M.Tech Thesis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2222"/>
                </a:solidFill>
              </a:defRPr>
            </a:pPr>
            <a:r>
              <a:t>Adarsh Dubey  (SC24M151)</a:t>
            </a:r>
          </a:p>
          <a:p>
            <a:pPr>
              <a:defRPr sz="1400" b="0">
                <a:solidFill>
                  <a:srgbClr val="222222"/>
                </a:solidFill>
              </a:defRPr>
            </a:pPr>
            <a:r>
              <a:t>Advisor: Dr. S. Sumitra</a:t>
            </a:r>
          </a:p>
          <a:p>
            <a:pPr>
              <a:defRPr sz="1400" b="0">
                <a:solidFill>
                  <a:srgbClr val="222222"/>
                </a:solidFill>
              </a:defRPr>
            </a:pPr>
            <a:r>
              <a:t>Department of Mathematics, IIST</a:t>
            </a:r>
          </a:p>
          <a:p>
            <a:pPr>
              <a:defRPr sz="1400" b="0">
                <a:solidFill>
                  <a:srgbClr val="222222"/>
                </a:solidFill>
              </a:defRPr>
            </a:pPr>
            <a:r>
              <a:t>M.Tech in Machine Learning and Computing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555555"/>
                </a:solidFill>
              </a:defRPr>
            </a:pPr>
            <a:r>
              <a:t>One-line thesis: co-design every layer of the LLM stack so the savings compose, then measure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C0392B"/>
                </a:solidFill>
              </a:defRPr>
            </a:pPr>
            <a:r>
              <a:t>•  93.8%  peak GPU utilisation with DeepSpeed ZeRO-3</a:t>
            </a:r>
          </a:p>
          <a:p>
            <a:pPr>
              <a:spcAft>
                <a:spcPts val="400"/>
              </a:spcAft>
              <a:defRPr sz="2000">
                <a:solidFill>
                  <a:srgbClr val="C0392B"/>
                </a:solidFill>
              </a:defRPr>
            </a:pPr>
            <a:r>
              <a:t>•  65.6%  attention blocks skipped by SWFA (&lt;1e-4 FP32 error)</a:t>
            </a:r>
          </a:p>
          <a:p>
            <a:pPr>
              <a:spcAft>
                <a:spcPts val="400"/>
              </a:spcAft>
              <a:defRPr sz="2000">
                <a:solidFill>
                  <a:srgbClr val="C0392B"/>
                </a:solidFill>
              </a:defRPr>
            </a:pPr>
            <a:r>
              <a:t>•  50-59%  end-to-end training speedup on GPT-2-Medium</a:t>
            </a:r>
          </a:p>
          <a:p>
            <a:pPr>
              <a:spcAft>
                <a:spcPts val="400"/>
              </a:spcAft>
              <a:defRPr sz="2000">
                <a:solidFill>
                  <a:srgbClr val="C0392B"/>
                </a:solidFill>
              </a:defRPr>
            </a:pPr>
            <a:r>
              <a:t>•  2.84×  decode throughput on LLaMA-7B (SGLang kernels)</a:t>
            </a:r>
          </a:p>
          <a:p>
            <a:pPr>
              <a:spcAft>
                <a:spcPts val="400"/>
              </a:spcAft>
              <a:defRPr sz="2000">
                <a:solidFill>
                  <a:srgbClr val="C0392B"/>
                </a:solidFill>
              </a:defRPr>
            </a:pPr>
            <a:r>
              <a:t>•  25-29%  energy savings per epoch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•  8× A100-40GB, NVLink, PyTorch 2.0, CUDA 12.x, NCCL 2.19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•  Schedule: ~10³ accelerators must stay in lockstep.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•  Kernel: GEMMs must saturate Tensor Cores.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•  Algorithm: attention must scale sub-quadratically with N.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•  Runtime: decode must turn FLOPs savings into tokens/s under SLOs.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•  Tooling: every kernel needs a roofline and an auto-tuner.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Isolated optimisations at any one layer leave the gains of the others on the table.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This thesis builds an end-to-end stack in which the five layers are designed to 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The Five-Layer Stack</a:t>
            </a:r>
          </a:p>
        </p:txBody>
      </p:sp>
      <p:pic>
        <p:nvPicPr>
          <p:cNvPr id="3" name="Picture 2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969264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4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Controlled 8-GPU study of DP / DDP / FSDP / ZeRO-3 — identical seeds and workload.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CUTLASS/CuTe mapping: up to 35% speedup on skinny and grouped GEMMs.</a:t>
            </a:r>
          </a:p>
          <a:p>
            <a:pPr>
              <a:spcAft>
                <a:spcPts val="400"/>
              </a:spcAft>
              <a:defRPr sz="1800">
                <a:solidFill>
                  <a:srgbClr val="C0392B"/>
                </a:solidFill>
              </a:defRPr>
            </a:pPr>
            <a:r>
              <a:t>•  SWFA: block-sparse Sliding Window Flash Attention with corner-check classifier, vectorised mask, and a closed-form optimal window w* (strict convexity proved).</a:t>
            </a:r>
          </a:p>
          <a:p>
            <a:pPr>
              <a:spcAft>
                <a:spcPts val="400"/>
              </a:spcAft>
              <a:defRPr sz="1800">
                <a:solidFill>
                  <a:srgbClr val="C0392B"/>
                </a:solidFill>
              </a:defRPr>
            </a:pPr>
            <a:r>
              <a:t>•  SGLang kernel stack: paged KV + fused decode + SWFA prefill + fused sampling = 2.84× on LLaMA-7B.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Triton profiling &amp; auto-tune pipeline; cross-validates CUTLASS / Torch-inductor within &lt;3%.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5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Talk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222222"/>
                </a:solidFill>
              </a:defRPr>
            </a:pPr>
            <a:r>
              <a:t>Part I — Foundations (§2–3)</a:t>
            </a:r>
          </a:p>
          <a:p>
            <a:pPr>
              <a:spcAft>
                <a:spcPts val="1800"/>
              </a:spcAft>
              <a:defRPr sz="1400">
                <a:solidFill>
                  <a:srgbClr val="555555"/>
                </a:solidFill>
              </a:defRPr>
            </a:pPr>
            <a:r>
              <a:t>literature · distributed training</a:t>
            </a:r>
          </a:p>
          <a:p>
            <a:pPr>
              <a:spcAft>
                <a:spcPts val="200"/>
              </a:spcAft>
              <a:defRPr sz="2000" b="1">
                <a:solidFill>
                  <a:srgbClr val="222222"/>
                </a:solidFill>
              </a:defRPr>
            </a:pPr>
            <a:r>
              <a:t>Part II — Kernels (§4)</a:t>
            </a:r>
          </a:p>
          <a:p>
            <a:pPr>
              <a:spcAft>
                <a:spcPts val="1800"/>
              </a:spcAft>
              <a:defRPr sz="1400">
                <a:solidFill>
                  <a:srgbClr val="555555"/>
                </a:solidFill>
              </a:defRPr>
            </a:pPr>
            <a:r>
              <a:t>CUTLASS + CuTe GEMMs</a:t>
            </a:r>
          </a:p>
          <a:p>
            <a:pPr>
              <a:spcAft>
                <a:spcPts val="200"/>
              </a:spcAft>
              <a:defRPr sz="2000" b="1">
                <a:solidFill>
                  <a:srgbClr val="222222"/>
                </a:solidFill>
              </a:defRPr>
            </a:pPr>
            <a:r>
              <a:t>Part III — Algorithm (§5)</a:t>
            </a:r>
          </a:p>
          <a:p>
            <a:pPr>
              <a:spcAft>
                <a:spcPts val="1800"/>
              </a:spcAft>
              <a:defRPr sz="1400">
                <a:solidFill>
                  <a:srgbClr val="555555"/>
                </a:solidFill>
              </a:defRPr>
            </a:pPr>
            <a:r>
              <a:t>Sliding Window Flash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28016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222222"/>
                </a:solidFill>
              </a:defRPr>
            </a:pPr>
            <a:r>
              <a:t>Part IV — Serving (§6)</a:t>
            </a:r>
          </a:p>
          <a:p>
            <a:pPr>
              <a:spcAft>
                <a:spcPts val="1800"/>
              </a:spcAft>
              <a:defRPr sz="1400">
                <a:solidFill>
                  <a:srgbClr val="555555"/>
                </a:solidFill>
              </a:defRPr>
            </a:pPr>
            <a:r>
              <a:t>SGLang kernel stack</a:t>
            </a:r>
          </a:p>
          <a:p>
            <a:pPr>
              <a:spcAft>
                <a:spcPts val="200"/>
              </a:spcAft>
              <a:defRPr sz="2000" b="1">
                <a:solidFill>
                  <a:srgbClr val="222222"/>
                </a:solidFill>
              </a:defRPr>
            </a:pPr>
            <a:r>
              <a:t>Part V — Tooling (§7)</a:t>
            </a:r>
          </a:p>
          <a:p>
            <a:pPr>
              <a:spcAft>
                <a:spcPts val="1800"/>
              </a:spcAft>
              <a:defRPr sz="1400">
                <a:solidFill>
                  <a:srgbClr val="555555"/>
                </a:solidFill>
              </a:defRPr>
            </a:pPr>
            <a:r>
              <a:t>Triton profiling &amp; auto-tune</a:t>
            </a:r>
          </a:p>
          <a:p>
            <a:pPr>
              <a:spcAft>
                <a:spcPts val="200"/>
              </a:spcAft>
              <a:defRPr sz="2000" b="1">
                <a:solidFill>
                  <a:srgbClr val="222222"/>
                </a:solidFill>
              </a:defRPr>
            </a:pPr>
            <a:r>
              <a:t>Part VI — Wrap (§8)</a:t>
            </a:r>
          </a:p>
          <a:p>
            <a:pPr>
              <a:spcAft>
                <a:spcPts val="1800"/>
              </a:spcAft>
              <a:defRPr sz="1400">
                <a:solidFill>
                  <a:srgbClr val="555555"/>
                </a:solidFill>
              </a:defRPr>
            </a:pPr>
            <a:r>
              <a:t>lessons, limitations,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6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Prior Art at Each Layer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188720" y="1188720"/>
          <a:ext cx="97840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489204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Representative prior work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/>
                        <a:t>Distributed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ZeRO (Rajbhandari '20), FSDP (Zhao '23), Megatron-LM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/>
                        <a:t>GEMM kernels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CUTLASS, CuTe, cuBLAS, Triton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/>
                        <a:t>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FlashAttention 1/2 (Dao '22/'23), Longformer, BigBird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/>
                        <a:t>Serving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vLLM (paged attention), SGLang, TGI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/>
                        <a:t>Profiling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Nsight Compute, NVTX, Triton benchmark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84632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Each layer has strong isolated work, but the interfaces between them are ad-hoc.</a:t>
            </a:r>
          </a:p>
          <a:p>
            <a:pPr>
              <a:defRPr sz="1600" b="1">
                <a:solidFill>
                  <a:srgbClr val="C0392B"/>
                </a:solidFill>
              </a:defRPr>
            </a:pPr>
            <a:r>
              <a:t>No prior work reports a controlled five-layer study on the same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7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Where This Thesis Sits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0392B"/>
                </a:solidFill>
              </a:defRPr>
            </a:pPr>
            <a:r>
              <a:t>What is new: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  • Controlled 4-way distributed study on one node (identical seeds, workload, init).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  • Block-classification step in front of Flash Attention that skips whole tiles.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  • Closed-form optimal window w* with a convexity proof.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  • Layered evaluation of 5 SGLang kernel optimisations that attributes the cumulative 2.84×.</a:t>
            </a:r>
          </a:p>
          <a:p>
            <a:pPr>
              <a:defRPr sz="600"/>
            </a:pPr>
          </a:p>
          <a:p>
            <a:pPr>
              <a:defRPr sz="2000" b="1">
                <a:solidFill>
                  <a:srgbClr val="555555"/>
                </a:solidFill>
              </a:defRPr>
            </a:pPr>
            <a:r>
              <a:t>What is deliberately out of scope: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  multi-node scaling, sub-8-bit quantisation, RLHF workloads.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8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Four Distributed Training Strategies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Grads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Optimiser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Comms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replicated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replicated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replicated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scatter/gather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DDP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replicated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ring-reduced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replicated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all-reduce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FSDP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sharded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sharded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sharded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gather→compute→shard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ZeRO-3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sharded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sharded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sharded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fine-grained overlap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389120"/>
            <a:ext cx="10972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Trade-off: replication → fewer comms, higher memory; sharding → P× memory reduction, extra gather/scatter.</a:t>
            </a:r>
          </a:p>
          <a:p>
            <a:pPr>
              <a:defRPr sz="1600" b="1">
                <a:solidFill>
                  <a:srgbClr val="C0392B"/>
                </a:solidFill>
              </a:defRPr>
            </a:pPr>
            <a:r>
              <a:t>Goal: isolate the effect of the strategy itself, not the framework or workload.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9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Memory Partitioning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Let M = parameter memory, P = GPUs, B = per-GPU batch:</a:t>
            </a:r>
          </a:p>
        </p:txBody>
      </p:sp>
      <p:pic>
        <p:nvPicPr>
          <p:cNvPr id="4" name="Picture 3" descr="eqb_3616713172495200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10058400" cy="24027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72000"/>
            <a:ext cx="10972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For Adam on P=8: 87.5% savings on param+grad+opt; activation memory unchanged.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Ring all-reduce time: T_AR(M) = 2(P-1)(τ + M/(Pβ)) → 2M/β  (as P → ∞).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10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Experimental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C0392B"/>
                </a:solidFill>
              </a:defRPr>
            </a:pPr>
            <a:r>
              <a:t>Hardware</a:t>
            </a:r>
          </a:p>
          <a:p>
            <a:pPr>
              <a:spcAft>
                <a:spcPts val="1600"/>
              </a:spcAft>
              <a:defRPr sz="1500">
                <a:solidFill>
                  <a:srgbClr val="222222"/>
                </a:solidFill>
              </a:defRPr>
            </a:pPr>
            <a:r>
              <a:t>8× A100-40GB, NVLink, single node,</a:t>
            </a:r>
            <a:br/>
            <a:r>
              <a:t>CUDA 12.x, NCCL 2.19</a:t>
            </a:r>
          </a:p>
          <a:p>
            <a:pPr>
              <a:spcAft>
                <a:spcPts val="200"/>
              </a:spcAft>
              <a:defRPr sz="1800" b="1">
                <a:solidFill>
                  <a:srgbClr val="C0392B"/>
                </a:solidFill>
              </a:defRPr>
            </a:pPr>
            <a:r>
              <a:t>Workload (training)</a:t>
            </a:r>
          </a:p>
          <a:p>
            <a:pPr>
              <a:spcAft>
                <a:spcPts val="1600"/>
              </a:spcAft>
              <a:defRPr sz="1500">
                <a:solidFill>
                  <a:srgbClr val="222222"/>
                </a:solidFill>
              </a:defRPr>
            </a:pPr>
            <a:r>
              <a:t>ResNet-50 / CIFAR-10 (controlled proxy)</a:t>
            </a:r>
            <a:br/>
            <a:r>
              <a:t>GPT-2 Medium (355M) for LLM runs</a:t>
            </a:r>
          </a:p>
          <a:p>
            <a:pPr>
              <a:spcAft>
                <a:spcPts val="200"/>
              </a:spcAft>
              <a:defRPr sz="1800" b="1">
                <a:solidFill>
                  <a:srgbClr val="C0392B"/>
                </a:solidFill>
              </a:defRPr>
            </a:pPr>
            <a:r>
              <a:t>Seeds</a:t>
            </a:r>
          </a:p>
          <a:p>
            <a:pPr>
              <a:spcAft>
                <a:spcPts val="1600"/>
              </a:spcAft>
              <a:defRPr sz="1500">
                <a:solidFill>
                  <a:srgbClr val="222222"/>
                </a:solidFill>
              </a:defRPr>
            </a:pPr>
            <a:r>
              <a:t>fixed across strategies, framework, kernels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Metrics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GPU utilisation (avg / peak)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Per-GPU memory (model / grad / opt)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Training-loss convergence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Power and energy per epoch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Compute / communication overlap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Throughput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11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Results — GPU Utilisation &amp; Memory</a:t>
            </a:r>
          </a:p>
        </p:txBody>
      </p:sp>
      <p:pic>
        <p:nvPicPr>
          <p:cNvPr id="3" name="Picture 2" descr="uti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402336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949440" y="1554480"/>
          <a:ext cx="4754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Mem/GPU (GB)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Reduction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/>
                        <a:t>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1.0×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/>
                        <a:t>DDP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1.0×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/>
                        <a:t>FSDP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8.0×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/>
                        <a:t>ZeRO-3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8.0×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4114800"/>
            <a:ext cx="49377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ZeRO-3 peaks at 93.8% via fine-grained overlap of param gather with compute.</a:t>
            </a:r>
          </a:p>
          <a:p>
            <a:pPr>
              <a:defRPr sz="1400" b="1">
                <a:solidFill>
                  <a:srgbClr val="C0392B"/>
                </a:solidFill>
              </a:defRPr>
            </a:pPr>
            <a:r>
              <a:t>Sharding delivers the theoretical ≈87.5% memory saving.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12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Results — Energy &amp; Communication Overlap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188720"/>
          <a:ext cx="10058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Avg (W)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kWh/ep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Comms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Overlap (%)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/>
                        <a:t>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12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/>
                        <a:t>DDP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64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/>
                        <a:t>FSDP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58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/>
                        <a:t>DeepSpeed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excellent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31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ZeRO-3: 22% lower per-epoch energy than DP at the same final loss.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DDP overlaps best: ring all-reduce runs during backward of earlier layers.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ZeRO-3's param-gather phase blocks compute slightly; overlap_comm hides it partly.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13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CUTLASS &amp; CuTe — The Tile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Threadblock tile (Mtb, Ntb, Ktb) — unit of HBM traffic.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Warp tile (Mw, Nw, Kw) — unit of shared-memory traffic.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Instruction tile (Mi, Ni, Ki) — Tensor Core MMA shape, e.g. 16×8×16.</a:t>
            </a:r>
          </a:p>
        </p:txBody>
      </p:sp>
      <p:pic>
        <p:nvPicPr>
          <p:cNvPr id="4" name="Picture 3" descr="eqb_5861285178480111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91840"/>
            <a:ext cx="10972800" cy="12875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38912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Multi-stage software pipelining: prefetch tile k+1 while MMAs on tile k execute.</a:t>
            </a:r>
          </a:p>
          <a:p>
            <a:pPr>
              <a:defRPr sz="1500" i="1">
                <a:solidFill>
                  <a:srgbClr val="555555"/>
                </a:solidFill>
              </a:defRPr>
            </a:pPr>
            <a:r>
              <a:t>Square GEMM → 3 stages; skinny GEMM → 2 stages (short K can't hide a third).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14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Epilogue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Without fusion — three HBM round-trips:</a:t>
            </a:r>
          </a:p>
        </p:txBody>
      </p:sp>
      <p:pic>
        <p:nvPicPr>
          <p:cNvPr id="4" name="Picture 3" descr="eqb_288964070276086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37360"/>
            <a:ext cx="9144000" cy="1203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With fusion — one HBM round-trip:</a:t>
            </a:r>
          </a:p>
        </p:txBody>
      </p:sp>
      <p:pic>
        <p:nvPicPr>
          <p:cNvPr id="6" name="Picture 5" descr="eqb_2983487460697882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291840"/>
            <a:ext cx="9144000" cy="1203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72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GPT-2 MLP with bias+GELU fused into FC1: 18% faster at N=2048.</a:t>
            </a:r>
          </a:p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Residual-add fused into FC2: 22% faster at N=4096.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Savings come entirely from eliminated HBM passes.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15 /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Results — CUTLASS vs cuBLAS (FP16, TFLOPS)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188720"/>
          <a:ext cx="9418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Shape (M×N×K)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cuBLAS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CUTLASS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Ratio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1"/>
                        <a:t>4096³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1.08×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1"/>
                        <a:t>8192³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318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1.04×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1"/>
                        <a:t>2048×2048×128 (skinny)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1.35×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1"/>
                        <a:t>Grouped MoE, 16 experts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1.31×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Matches cuBLAS on large shapes (both compute-bound, TC util &gt;90%).</a:t>
            </a:r>
          </a:p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Beats cuBLAS on skinny and grouped GEMMs — the shapes that dominate attention &amp; MoE.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35% win on 2048×2048×128 from warp tile 64×32×32 matching register budget.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16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SWFA — Motivation</a:t>
            </a:r>
          </a:p>
        </p:txBody>
      </p:sp>
      <p:pic>
        <p:nvPicPr>
          <p:cNvPr id="3" name="Picture 2" descr="eqb_221747046096565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972800" cy="144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Flash Attention fixes the memory wall — still issues dense GEMMs on every Br×Bc tile.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Long-context models (Longformer, BigBird, Mistral-7B) restrict to a local window [i-wl, i+wr].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Theory: cost drops from Θ(N²) to Θ(Nw) — only if the kernel is window-aware.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0392B"/>
                </a:solidFill>
              </a:defRPr>
            </a:pPr>
            <a:r>
              <a:t>SWFA = Flash Attention  +  explicit block classification  +  vectorised mask.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17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Flash Attention — Online Softmax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For each row tile i, maintain (m_i, ℓ_i, O_i) = (row-max, row-sum, accumulator):</a:t>
            </a:r>
          </a:p>
        </p:txBody>
      </p:sp>
      <p:pic>
        <p:nvPicPr>
          <p:cNvPr id="4" name="Picture 3" descr="eqb_9106786305909138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37360"/>
            <a:ext cx="10058400" cy="2559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Peak HBM residency drops from Θ(N²) to Θ(Br·Bc); same answer up to FP associativity.</a:t>
            </a:r>
          </a:p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Key insight: identical (m, ℓ, O) state-machine block-by-block — so we can SKIP blocks.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18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Block Classification: I / X / O</a:t>
            </a:r>
          </a:p>
        </p:txBody>
      </p:sp>
      <p:pic>
        <p:nvPicPr>
          <p:cNvPr id="3" name="Picture 2" descr="class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188720"/>
            <a:ext cx="628034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19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Classification Algorithm (Corner Check)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Input:  N, window (wl, wr), block sizes (Br, Bc)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Output: sets I, X, O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Tr ← ⌈N/Br⌉;  Tc ← ⌈N/Bc⌉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for r = 0 .. Tr−1: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r0 ← r·Br;  r1 ← min((r+1)·Br, N) − 1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for c = 0 .. Tc−1: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c0 ← c·Bc;  c1 ← min((c+1)·Bc, N) − 1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outside ← (c1 &lt; r0 − wl) or (c0 &gt; r1 + wr)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inside  ← (c1 ≤ r0 + wr) and (c0 ≥ r1 − wl)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if outside:   O ← O ∪ {(r,c)}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elif inside:  I ← I ∪ {(r,c)}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else:         X ← X ∪ {(r,c)}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return (I, X, 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Cost: O(Tr·Tc) = O((N/B)²), dominated by the O(Nw/B) non-skipped kernel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20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Corner-Check Sufficiency (Lemma)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Let B = [r0, r1] × [c0, c1] be a block, W = {(i,j): i − wl ≤ j ≤ i + wr}. Then:</a:t>
            </a:r>
          </a:p>
        </p:txBody>
      </p:sp>
      <p:pic>
        <p:nvPicPr>
          <p:cNvPr id="4" name="Picture 3" descr="eqb_5923522863171026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4560"/>
            <a:ext cx="10332720" cy="19582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109728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Proof sketch.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Window boundaries j = i ± wr, j = i − wl are monotone in i, so min (j−i) over B is attained at (r1, c0) and max at (r0, c1). Outside/inside reduce to inequalities on these two corners. ∎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C0392B"/>
                </a:solidFill>
              </a:defRPr>
            </a:pPr>
            <a:r>
              <a:t>Consequence: classification needs only 4 comparisons per block — trivial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21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Vectorised Mask Generation for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For block (r,c), let δ_rc = c·Bc − r·Br. A local offset rel = j_ℓ − i_ℓ is masked iff:</a:t>
            </a:r>
          </a:p>
        </p:txBody>
      </p:sp>
      <p:pic>
        <p:nvPicPr>
          <p:cNvPr id="4" name="Picture 3" descr="eqb_7388507676644212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515600" cy="2605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21208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Replaces nested O(Br·Bc) Python loop by a single triu/tril call.</a:t>
            </a:r>
          </a:p>
          <a:p>
            <a:pPr>
              <a:defRPr sz="1600" b="1">
                <a:solidFill>
                  <a:srgbClr val="C0392B"/>
                </a:solidFill>
              </a:defRPr>
            </a:pPr>
            <a:r>
              <a:t>≈100× faster than naive masking at the block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22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SWFA Forward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Input: Q ∈ R^{B×H×N×d}, K, V ∈ R^{B×H×N×dv},  (wl, wr),  (Br, Bc)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(I, X, O) ← ClassifyBlocks()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for r = 0 .. Tr − 1: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O_r ← 0;  m_r ← −∞;  ℓ_r ← 0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for c = 0 .. Tc − 1:</a:t>
            </a:r>
          </a:p>
          <a:p>
            <a:pPr>
              <a:defRPr sz="1300" b="1">
                <a:solidFill>
                  <a:srgbClr val="C0392B"/>
                </a:solidFill>
                <a:latin typeface="Consolas"/>
              </a:defRPr>
            </a:pPr>
            <a:r>
              <a:t>        if (r,c) ∈ O: continue              ← SKIP BLOCK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    S_rc ← Q_r · K_c^T / √d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    if (r,c) ∈ X: S_rc += GenerateMask(r,c)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    m_new ← max(m_r, max(S_rc));  corr ← exp(m_r − m_new)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    P_rc ← exp(S_rc − m_new)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    ℓ_r ← corr·ℓ_r + Σ P_rc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    O_r ← corr·O_r + P_rc · V_c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    m_r ← m_new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    O_r ← O_r / (ℓ_r + ε)</a:t>
            </a:r>
          </a:p>
          <a:p>
            <a:pPr>
              <a:defRPr sz="1300">
                <a:solidFill>
                  <a:srgbClr val="222222"/>
                </a:solidFill>
                <a:latin typeface="Consolas"/>
              </a:defRPr>
            </a:pPr>
            <a:r>
              <a:t>return 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23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Backward Pass &amp; Complexity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Backward re-runs the forward loop on the same block set I ∪ X:</a:t>
            </a:r>
          </a:p>
        </p:txBody>
      </p:sp>
      <p:pic>
        <p:nvPicPr>
          <p:cNvPr id="4" name="Picture 3" descr="eqb_29334058525696027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058400" cy="19062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3474720"/>
          <a:ext cx="9418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470916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Quantity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Expression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Total blocks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(N/B)²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Inside band (I ∪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≈ 2·(N/B)·(w/B)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Skipped (O)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(N/B)² − 2·(N/B)·(w/B)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Theoretical speedup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1 − 2w/N  (as w ≪ N)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Θ(N)  — same as Flash Attention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Example: N=128, w=4, B=16 ⇒ 48 of 64 blocks skipped (75%).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Accuracy &amp; Block-Skip Efficiency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80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Max diff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Tol.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sym narrow w=2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2.4e-7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1e-4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sym wide w=8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2.4e-7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1e-4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causal+win wl=6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4.8e-7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1e-4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multi-head H=8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8.3e-7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1e-4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long seq N=128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7.5e-7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1e-4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200" b="1"/>
                        <a:t>FP16 w=4,6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1.95e-3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1e-2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2976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All 19 configurations pass.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80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Blocks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Skip %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very narrow w=1,2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65.6%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sym narrow  w=2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37.5%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causal+win  w=6,0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56.2%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left only   w=10,0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56.2%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N=Ns=45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22.2%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200" b="1"/>
                        <a:t>win&gt;seq w=20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42976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Matches the 1 − 2w/N prediction.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End-to-End Training &amp; Long-Sequence Scaling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80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Tok/s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kWh/ep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DDP vanilla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12,450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2.8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DDP + SWFA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18,720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FSDP vanilla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11,890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2.9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FSDP + SWFA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17,340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 b="1"/>
                        <a:t>DeepSpeed vanilla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13,210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2.7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200" b="1"/>
                        <a:t>DeepSpeed + SWFA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19,850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29768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50–59% throughput, 25–29% energy; perplexity shift &lt;0.1.</a:t>
            </a:r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72009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26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Optimal Window: Cost Model &amp; Convexity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Compute / memory / performance-loss cost:</a:t>
            </a:r>
          </a:p>
        </p:txBody>
      </p:sp>
      <p:pic>
        <p:nvPicPr>
          <p:cNvPr id="4" name="Picture 3" descr="eqb_1038501043050413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332720" cy="256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10972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Theorem (strict convexity): L(w) is strictly convex for w &gt; 0.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Proof: C''=M''=0; P'' ∝ (λ²/4)·e^{−λw/2} &gt; 0 ⇒ L'' &gt; 0. ∎</a:t>
            </a:r>
          </a:p>
          <a:p/>
          <a:p>
            <a:pPr>
              <a:defRPr sz="1500" b="1">
                <a:solidFill>
                  <a:srgbClr val="C0392B"/>
                </a:solidFill>
              </a:defRPr>
            </a:pPr>
            <a:r>
              <a:t>Closed-form optimum:  w* = (2/λ) · ln[ γ·A₀·λ / ( α·κ·d·(1 − e^{-λ}) )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27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SGLang — Architecture &amp;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Prefill (compute-bound): processes full prompt, builds KV cache.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Decode (memory-bound):   one token at a time; reads all prior KV.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3291840" cy="822960"/>
          </a:xfrm>
          <a:prstGeom prst="roundRect">
            <a:avLst/>
          </a:prstGeom>
          <a:solidFill>
            <a:srgbClr val="CBE4FB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t>Prefill (SWFA)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926080"/>
            <a:ext cx="3291840" cy="822960"/>
          </a:xfrm>
          <a:prstGeom prst="roundRect">
            <a:avLst/>
          </a:prstGeom>
          <a:solidFill>
            <a:srgbClr val="D6F2D0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t>Fused Decode Attn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2926080"/>
            <a:ext cx="3291840" cy="822960"/>
          </a:xfrm>
          <a:prstGeom prst="roundRect">
            <a:avLst/>
          </a:prstGeom>
          <a:solidFill>
            <a:srgbClr val="FFF2B3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t>Fused Sampling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4206240"/>
            <a:ext cx="3291840" cy="822960"/>
          </a:xfrm>
          <a:prstGeom prst="roundRect">
            <a:avLst/>
          </a:prstGeom>
          <a:solidFill>
            <a:srgbClr val="E0E0E0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Paged KV Cache (16-tok pages)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120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•  Paged KV: 16-tok pages eliminate fragmentation.</a:t>
            </a:r>
          </a:p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•  Fused decode: matmul + softmax + masking in one kernel.</a:t>
            </a:r>
          </a:p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•  SWFA prefill: drop-in for window models.</a:t>
            </a:r>
          </a:p>
          <a:p>
            <a:pPr>
              <a:spcAft>
                <a:spcPts val="400"/>
              </a:spcAft>
              <a:defRPr sz="1400">
                <a:solidFill>
                  <a:srgbClr val="222222"/>
                </a:solidFill>
              </a:defRPr>
            </a:pPr>
            <a:r>
              <a:t>•  Fused top-k/top-p: removes 3–4 kernel launches per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28 / 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Layered Decode-Throughput Gain on LLaMA-7B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876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Tok/s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Speed-up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300" b="1"/>
                        <a:t>Baseline (vanilla attn, unpaged KV)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1.00×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300" b="1"/>
                        <a:t>+ Paged KV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1,420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1.45×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300" b="1"/>
                        <a:t>+ Fused decode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1.90×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300" b="1"/>
                        <a:t>+ SWFA prefill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2,410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2.46×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300" b="1"/>
                        <a:t>+ Fused sampling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2,780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2.84×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188720"/>
            <a:ext cx="3657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Per-layer wedge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• Paged KV  (+45%):</a:t>
            </a:r>
            <a:br/>
            <a:r>
              <a:t>  no fragmentation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• Fused decode  (+31%):</a:t>
            </a:r>
            <a:br/>
            <a:r>
              <a:t>  matches HBM roofline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• SWFA prefill  (+30%):</a:t>
            </a:r>
            <a:br/>
            <a:r>
              <a:t>  declared window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• Fused sampling  (+15%):</a:t>
            </a:r>
            <a:br/>
            <a:r>
              <a:t>  fewer launches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8056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Order matters — each layer exposes the next bottleneck.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29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Tail Latency &amp; KV Footprint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Batch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p50 (ms)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p90 (ms)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p99 (ms)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Tok/s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414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796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1,467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2,724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p99 &lt; 30 ms even at batch 64 — well below 100 ms SLO.</a:t>
            </a:r>
          </a:p>
          <a:p>
            <a:pPr>
              <a:spcAft>
                <a:spcPts val="400"/>
              </a:spcAft>
              <a:defRPr sz="1600">
                <a:solidFill>
                  <a:srgbClr val="C0392B"/>
                </a:solidFill>
              </a:defRPr>
            </a:pPr>
            <a:r>
              <a:t>•  KV footprint @ L=8192, batch 64: 34 GB → 19 GB (44% saving) via paged + radix-tree sharing.</a:t>
            </a:r>
          </a:p>
          <a:p>
            <a:pPr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Enables 1.7× more concurrent requests per GPU.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30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Prefill vs Decode — Why Both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0392B"/>
                </a:solidFill>
              </a:defRPr>
            </a:pPr>
            <a:r>
              <a:t>Prefill — compute-bound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Dense QKᵀ and PV on whole prompt.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SWFA cuts attention FLOPs by ~37% at w=4096 on 8K prompts.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Direct wall-clock win.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0392B"/>
                </a:solidFill>
              </a:defRPr>
            </a:pPr>
            <a:r>
              <a:t>Decode — memory-bound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Arithmetic intensity ≈ 1 FLOP/byte.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Fused kernels hide KV-page indirection behind compute.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• Throughput ceiling = HBM bandwidth, not FLOPs.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The same building blocks appear in both phases, but the bottleneck changes.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Kernel design must follow the bottleneck, not the algorithm.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31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Triton — Programming Model &amp; Auto-tune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Programmer writes block-level Python; compiler emits PTX with Tensor-Core MMAs.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@triton.autotune(configs=[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triton.Config({'BLOCK_M':128,'BLOCK_N':128,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           'BLOCK_K':32}, num_warps=8, num_stages=3),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triton.Config({'BLOCK_M':128,'BLOCK_N':64,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               'BLOCK_K':32}, num_warps=4, num_stages=2),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], key=['M','N','K'])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@triton.jit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def gemm_kernel(A, B, C, M, N, K, ...):</a:t>
            </a:r>
          </a:p>
          <a:p>
            <a:pPr>
              <a:defRPr sz="1400">
                <a:solidFill>
                  <a:srgbClr val="222222"/>
                </a:solidFill>
                <a:latin typeface="Consolas"/>
              </a:defRPr>
            </a:pPr>
            <a:r>
              <a:t>    # block-pointer arithmetic + MMA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778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55555"/>
                </a:solidFill>
              </a:defRPr>
            </a:pPr>
            <a:r>
              <a:t>Auto-tuner picks the winner per shape class and caches it — second call is 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32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Roofline Analysis on A100</a:t>
            </a:r>
          </a:p>
        </p:txBody>
      </p:sp>
      <p:pic>
        <p:nvPicPr>
          <p:cNvPr id="3" name="Picture 2" descr="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688086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0352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GEMM and SWFA sit on the compute ceiling (312 TFLOPS); decode attention sits on the memory ridge at ~1 FLOP/byte.</a:t>
            </a:r>
          </a:p>
          <a:p>
            <a:pPr>
              <a:defRPr sz="1500" b="1">
                <a:solidFill>
                  <a:srgbClr val="C0392B"/>
                </a:solidFill>
              </a:defRPr>
            </a:pPr>
            <a:r>
              <a:t>Two kernels, two ceilings, two optimisation strategies.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33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Triton vs CUTLASS vs Torch-inductor (FP16, TFLOPS)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Kernel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Triton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CUTLASS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Inductor</a:t>
                      </a:r>
                    </a:p>
                  </a:txBody>
                  <a:tcPr>
                    <a:solidFill>
                      <a:srgbClr val="334F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/>
                        <a:t>GEMM 4096³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288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/>
                        <a:t>Flash Attention (N=2K, h=128)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/>
                        <a:t>SWFA (N=2K, w=512)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/>
                        <a:t>Decode attention (KV=8K)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976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22222"/>
                </a:solidFill>
              </a:defRPr>
            </a:pPr>
            <a:r>
              <a:t>•  Agreement: &lt;3% throughput deviation; &lt;1e-4 FP32, &lt;1e-3 FP16 numerical difference.</a:t>
            </a:r>
          </a:p>
          <a:p>
            <a:pPr>
              <a:spcAft>
                <a:spcPts val="400"/>
              </a:spcAft>
              <a:defRPr sz="1500">
                <a:solidFill>
                  <a:srgbClr val="C0392B"/>
                </a:solidFill>
              </a:defRPr>
            </a:pPr>
            <a:r>
              <a:t>•  Triton closes the gap to within 7% of hand-tuned CUTLASS on SWFA.</a:t>
            </a:r>
          </a:p>
          <a:p>
            <a:pPr>
              <a:spcAft>
                <a:spcPts val="400"/>
              </a:spcAft>
              <a:defRPr sz="1500">
                <a:solidFill>
                  <a:srgbClr val="222222"/>
                </a:solidFill>
              </a:defRPr>
            </a:pPr>
            <a:r>
              <a:t>•  Torch-inductor cannot express sliding window — hence the missing entry.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C0392B"/>
                </a:solidFill>
              </a:defRPr>
            </a:pPr>
            <a:r>
              <a:t>Triton for iteration speed; CUTLASS for the last 5–10%.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34 /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C0392B"/>
                </a:solidFill>
              </a:defRPr>
            </a:pPr>
            <a:r>
              <a:t>•  Compose, then tune: cross-layer co-design compounds — single-layer wins plateau quickly.</a:t>
            </a:r>
          </a:p>
          <a:p>
            <a:pPr>
              <a:spcAft>
                <a:spcPts val="400"/>
              </a:spcAft>
              <a:defRPr sz="1800">
                <a:solidFill>
                  <a:srgbClr val="C0392B"/>
                </a:solidFill>
              </a:defRPr>
            </a:pPr>
            <a:r>
              <a:t>•  Skip beats mask: block-sparsity should be encoded in kernel control flow, not in the score matrix.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Overlap is a first-class metric: a 65% overlap run beats a 90% util run that stalls on comms.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Auto-tune everything: the same kernel needs different tile shapes at different sequence lengths.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Roofline is the design tool: every optimisation should move a dot toward its ceiling.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35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Single node: 8-GPU NVLink only; no multi-node cross-switch, no InfiniBand topology.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Model size: GPT-2 Medium (355M) for training; 7B only for serving. No 70B/175B.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Precision: FP16/FP32 only; no sub-8-bit quantisation study.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SWFA: reference PyTorch + Triton cross-validator; CUTLASS kernel sketched but not shipped.</a:t>
            </a:r>
          </a:p>
          <a:p>
            <a:pPr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Workload breadth: dense transformers only — no MoE end-to-end, no RLHF.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36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Multi-node SWFA with topology-aware window partitioning over InfiniBand.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CUTLASS SWFA kernel with CuTe layouts and epilogue fusion; target &gt;95% TC util.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Adaptive window: learn w* online per layer/head using the closed-form as warm start.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Adaptive KV page size in SGLang — balance arithmetic intensity against fragmentation.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Sub-8-bit paths: FP8 and INT4 kernels with accuracy bounds from the online-softmax FP model.</a:t>
            </a:r>
          </a:p>
          <a:p>
            <a:pPr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MoE end-to-end: fold grouped-GEMM epilogue fusion into the SGLang runtime.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37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Summary of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Algorithmic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SWFA with corner-check classifier and vectorised mask.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Closed-form optimal window w* under exponential decay; strict convexity proved.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Systems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Controlled 4-way distributed study: ZeRO-3 peaks at 93.8% GPU util, 22% lower energy.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SGLang kernel stack: 2.84× decode on LLaMA-7B.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CUTLASS/CuTe mapping: ≤35% speedup on skinny and MoE GEMMs.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Reproducibility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Reference PyTorch SWFA + Triton cross-validator.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19 accuracy configurations, all pass within tolerance.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Full proofs of block-count, convexity and w* in Appendix 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38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222"/>
                </a:solidFill>
              </a:defRPr>
            </a:pPr>
            <a:r>
              <a:t>Publications &amp;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0392B"/>
                </a:solidFill>
              </a:defRPr>
            </a:pPr>
            <a:r>
              <a:t>Artefacts in progress: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“Sliding Window Flash Attention with Block Classification” — preprint in preparation.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Open-source reference PyTorch + Triton implementation of SWFA.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Benchmark harness for 4-way distributed comparison (ResNet-50 ∪ GPT-2 Medium).</a:t>
            </a:r>
          </a:p>
          <a:p>
            <a:pPr>
              <a:defRPr sz="800"/>
            </a:pPr>
          </a:p>
          <a:p>
            <a:pPr>
              <a:defRPr sz="1800" b="1">
                <a:solidFill>
                  <a:srgbClr val="C0392B"/>
                </a:solidFill>
              </a:defRPr>
            </a:pPr>
            <a:r>
              <a:t>Reproducibility: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All random seeds logged; NCCL topology captured; Nsight reports archived.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Shape-indexed auto-tune cache shipped with kernels.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Triton pipeline reproduces CUTLASS numbers within &lt;3%.</a:t>
            </a:r>
          </a:p>
          <a:p>
            <a:pPr>
              <a:defRPr sz="600"/>
            </a:pPr>
          </a:p>
          <a:p>
            <a:pPr>
              <a:defRPr sz="1300" i="1">
                <a:solidFill>
                  <a:srgbClr val="555555"/>
                </a:solidFill>
              </a:defRPr>
            </a:pPr>
            <a:r>
              <a:t>Environment: CUDA 12.x · NCCL 2.19 · PyTorch 2.0 · CUTLASS 3.x · Triton 2.x · A100-40GB × 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39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Adarsh Dubey — M.Tech Thesis Defense (IIST)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33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defRPr sz="2800" i="1">
                <a:solidFill>
                  <a:srgbClr val="FFEEBB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2222"/>
                </a:solidFill>
              </a:defRPr>
            </a:pPr>
            <a:r>
              <a:t>Adarsh Dubey — SC24M151</a:t>
            </a:r>
          </a:p>
          <a:p>
            <a:pPr algn="ctr">
              <a:defRPr sz="1400" b="0">
                <a:solidFill>
                  <a:srgbClr val="222222"/>
                </a:solidFill>
              </a:defRPr>
            </a:pPr>
            <a:r>
              <a:t>Department of Mathematics, IIST · Advisor: Dr. S. Sumitra</a:t>
            </a:r>
          </a:p>
          <a:p>
            <a:pPr algn="ctr">
              <a:defRPr sz="1400" b="0">
                <a:solidFill>
                  <a:srgbClr val="222222"/>
                </a:solidFill>
              </a:defRPr>
            </a:pPr>
            <a:r>
              <a:t>adarsh.dubey.sc24@iist.ac.in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